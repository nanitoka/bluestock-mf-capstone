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108960"/>
            <a:ext cx="12188952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0B981"/>
                </a:solidFill>
              </a:rPr>
              <a:t>BLUESTOCK FINTECH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Mutual Fund Analytics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34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EFF6FF"/>
                </a:solidFill>
              </a:rPr>
              <a:t>Capstone Project — Final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4748B"/>
                </a:solidFill>
              </a:rPr>
              <a:t>10 Funds  |  50,000 Transactions  |  2,000 Investors  |  Data: 2022–2026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06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</a:rPr>
              <a:t>Python 3.12  ·  SQLite  ·  Streamlit  ·  Plotly  ·  ReportLab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Problem &amp; 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B981"/>
                </a:solidFill>
              </a:rPr>
              <a:t>Why does the Indian MF industry need a unified analytics platform?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5486400" cy="4846320"/>
          </a:xfrm>
          <a:prstGeom prst="rect">
            <a:avLst/>
          </a:prstGeom>
          <a:solidFill>
            <a:srgbClr val="EFF6FF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486400" cy="4846320"/>
          </a:xfrm>
          <a:prstGeom prst="rect">
            <a:avLst/>
          </a:prstGeom>
          <a:solidFill>
            <a:srgbClr val="F0FDF4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F4B"/>
                </a:solidFill>
              </a:rPr>
              <a:t>❌  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▸  MF data spread across NAV feeds, transaction logs, AUM reports, and benchmark indices — no unified view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▸  Fund managers lack real-time risk metrics (VaR, Sharpe, drawdown) in one place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▸  Investor behaviour (SIP continuity, geographic trends) not systematically tracked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▸  No composite scoring framework to compare funds across risk-adjusted 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4173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</a:rPr>
              <a:t>✅  Our 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▸  End-to-end ETL pipeline: raw CSVs → cleaned data → SQLite star-schema DB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▸  Live NAV integration from AMFI API (mfapi.in) — 16,352 real records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▸  23-chart EDA + advanced analytics (VaR, cohort, HHI, recommender)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▸  Interactive Streamlit dashboard: 4 pages, Plotly charts, fintech theme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▸  Composite fund scorecard ranking all 10 schemes by risk-adjusted return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</a:rPr>
              <a:t>Bluestock MF Analytics Platform  |  Python · SQLite · Streamlit · Plotly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</a:rPr>
              <a:t>Confidential — Capstone Project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Data Sources &amp;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B981"/>
                </a:solidFill>
              </a:rPr>
              <a:t>10 CSVs + Live API  |  86,000+ database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12880" cy="420624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6304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B1F4B"/>
                </a:solidFill>
              </a:rPr>
              <a:t>fund_master.csv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463040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56DB"/>
                </a:solidFill>
              </a:rPr>
              <a:t>10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463040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</a:rPr>
              <a:t>Fund metadata, categories, AMC, expense ratios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874519"/>
            <a:ext cx="1161288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920239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B1F4B"/>
                </a:solidFill>
              </a:rPr>
              <a:t>nav_history.csv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920239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56DB"/>
                </a:solidFill>
              </a:rPr>
              <a:t>12,200 rows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1920239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</a:rPr>
              <a:t>Daily NAV per fund (2022–2026, seeded 1% nulls)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331720"/>
            <a:ext cx="11612880" cy="420624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377439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B1F4B"/>
                </a:solidFill>
              </a:rPr>
              <a:t>aum_history.csv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377439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56DB"/>
                </a:solidFill>
              </a:rPr>
              <a:t>560 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377439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</a:rPr>
              <a:t>Monthly AUM and net inflows per fund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788920"/>
            <a:ext cx="1161288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834639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B1F4B"/>
                </a:solidFill>
              </a:rPr>
              <a:t>investor_transactions.csv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2834639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56DB"/>
                </a:solidFill>
              </a:rPr>
              <a:t>50,000 rows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2834639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</a:rPr>
              <a:t>SIP, Lumpsum, Redemption, STP, Switch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246120"/>
            <a:ext cx="11612880" cy="420624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291839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B1F4B"/>
                </a:solidFill>
              </a:rPr>
              <a:t>sip_register.csv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3291839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56DB"/>
                </a:solidFill>
              </a:rPr>
              <a:t>800 rows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291839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</a:rPr>
              <a:t>SIP mandates with continuity tracking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703320"/>
            <a:ext cx="1161288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749039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B1F4B"/>
                </a:solidFill>
              </a:rPr>
              <a:t>scheme_performance.csv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1920" y="3749039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56DB"/>
                </a:solidFill>
              </a:rPr>
              <a:t>40 rows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3749039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</a:rPr>
              <a:t>Annual returns, Sharpe, expense ratios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160520"/>
            <a:ext cx="11612880" cy="420624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420624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B1F4B"/>
                </a:solidFill>
              </a:rPr>
              <a:t>portfolio_holdings.csv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4206240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56DB"/>
                </a:solidFill>
              </a:rPr>
              <a:t>1,260 rows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4206240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</a:rPr>
              <a:t>Quarterly sector allocations per fund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617720"/>
            <a:ext cx="1161288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466344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B1F4B"/>
                </a:solidFill>
              </a:rPr>
              <a:t>benchmark_returns.csv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31920" y="4663440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56DB"/>
                </a:solidFill>
              </a:rPr>
              <a:t>9,760 rows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4663440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</a:rPr>
              <a:t>8 benchmarks: Nifty 100, Nifty 500, Crisil, etc.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074920"/>
            <a:ext cx="11612880" cy="420624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12064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B1F4B"/>
                </a:solidFill>
              </a:rPr>
              <a:t>investor_demographics.csv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5120640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56DB"/>
                </a:solidFill>
              </a:rPr>
              <a:t>2,000 rows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5120640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</a:rPr>
              <a:t>Age, city, KYC status, risk profile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5532120"/>
            <a:ext cx="1161288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557784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B1F4B"/>
                </a:solidFill>
              </a:rPr>
              <a:t>Live NAV (mfapi.in)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31920" y="5577840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56DB"/>
                </a:solidFill>
              </a:rPr>
              <a:t>16,352 rows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0" y="5577840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</a:rPr>
              <a:t>Real AMFI NAV for 6 scheme codes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</a:rPr>
              <a:t>Bluestock MF Analytics Platform  |  Python · SQLite · Streamlit · Plotly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</a:rPr>
              <a:t>Confidential — Capstone Project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ETL Pipeline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B981"/>
                </a:solidFill>
              </a:rPr>
              <a:t>8-step sequential pipeline from raw CSVs to interactive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828800"/>
            <a:ext cx="1188720" cy="8229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92024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0
Generate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1031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1828800"/>
            <a:ext cx="1188720" cy="82296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74519" y="192024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1
Ingest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1031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828800"/>
            <a:ext cx="1188720" cy="82296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7560" y="192024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2
Live NAV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1031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1828800"/>
            <a:ext cx="1188720" cy="822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192024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3
Clean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200400"/>
            <a:ext cx="1188720" cy="82296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29184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4
Load 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4747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0" y="3200400"/>
            <a:ext cx="1188720" cy="82296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74519" y="329184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
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4747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91840" y="3200400"/>
            <a:ext cx="1188720" cy="8229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329184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6–8
Notebooks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34747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3200400"/>
            <a:ext cx="1188720" cy="822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00600" y="329184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Dashboard
Streamlit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663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B1F4B"/>
                </a:solidFill>
              </a:rPr>
              <a:t>Key Technologies: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50292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E293B"/>
                </a:solidFill>
              </a:rPr>
              <a:t>Python 3.12  ·  Pandas 3.0  ·  SQLAlchemy 2.0  ·  SQLite  ·  Plotly  ·  Streamlit  ·  ReportLab  ·  python-pptx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55778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56DB"/>
                </a:solidFill>
              </a:rPr>
              <a:t>Total records in DB: 86,630  |  Tables: 9  |  Charts generated: 23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</a:rPr>
              <a:t>Bluestock MF Analytics Platform  |  Python · SQLite · Streamlit · Plotly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</a:rPr>
              <a:t>Confidential — Capstone Project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EDA Highlights — 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B981"/>
                </a:solidFill>
              </a:rPr>
              <a:t>Total AUM: ₹6,274,000 Cr  |  SIP Inflows: ₹0.0 Cr  |  50K Transactions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64008" cy="9144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307592"/>
            <a:ext cx="24688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F4B"/>
                </a:solidFill>
              </a:rPr>
              <a:t>₹62.7L Cr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1709928"/>
            <a:ext cx="246887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Total Industry AUM</a:t>
            </a:r>
          </a:p>
        </p:txBody>
      </p:sp>
      <p:sp>
        <p:nvSpPr>
          <p:cNvPr id="9" name="Rectangle 8"/>
          <p:cNvSpPr/>
          <p:nvPr/>
        </p:nvSpPr>
        <p:spPr>
          <a:xfrm>
            <a:off x="3063240" y="123444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63240" y="1234440"/>
            <a:ext cx="64008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1307592"/>
            <a:ext cx="24688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F4B"/>
                </a:solidFill>
              </a:rPr>
              <a:t>₹0.0 Cr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709928"/>
            <a:ext cx="246887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SIP Inflows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123444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52160" y="1234440"/>
            <a:ext cx="64008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307592"/>
            <a:ext cx="24688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F4B"/>
                </a:solidFill>
              </a:rPr>
              <a:t>48,638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709928"/>
            <a:ext cx="246887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Active Folios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41080" y="1234440"/>
            <a:ext cx="3200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1F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41080" y="1234440"/>
            <a:ext cx="64008" cy="91440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0" y="1307592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F4B"/>
                </a:solidFill>
              </a:rPr>
              <a:t>10 Schemes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1709928"/>
            <a:ext cx="3017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Across 4 AMCs</a:t>
            </a:r>
          </a:p>
        </p:txBody>
      </p:sp>
      <p:pic>
        <p:nvPicPr>
          <p:cNvPr id="21" name="Picture 20" descr="01_nav_trend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286000"/>
            <a:ext cx="5760720" cy="3931920"/>
          </a:xfrm>
          <a:prstGeom prst="rect">
            <a:avLst/>
          </a:prstGeom>
        </p:spPr>
      </p:pic>
      <p:pic>
        <p:nvPicPr>
          <p:cNvPr id="22" name="Picture 21" descr="03_sip_monthly_milest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286000"/>
            <a:ext cx="5760720" cy="393192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</a:rPr>
              <a:t>Bluestock MF Analytics Platform  |  Python · SQLite · Streamlit · Plotly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</a:rPr>
              <a:t>Confidential — Capstone Project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EDA Highlights — Investor &amp; Sector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B981"/>
                </a:solidFill>
              </a:rPr>
              <a:t>2,000 investors  |  T30/B30 split  |  10 sectors tracked</a:t>
            </a:r>
          </a:p>
        </p:txBody>
      </p:sp>
      <p:pic>
        <p:nvPicPr>
          <p:cNvPr id="5" name="Picture 4" descr="05_t30_b30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3840480"/>
          </a:xfrm>
          <a:prstGeom prst="rect">
            <a:avLst/>
          </a:prstGeom>
        </p:spPr>
      </p:pic>
      <p:pic>
        <p:nvPicPr>
          <p:cNvPr id="6" name="Picture 5" descr="10_sector_don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280160"/>
            <a:ext cx="5669280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21208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▸  T30 cities: 60% of total capital  |  B30 cities: higher SIP continuation rates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▸  Financial Services = top sector allocation (18–22% across equity funds)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▸  IT and FMCG consistently rank 2nd and 3rd in portfolio holdings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</a:rPr>
              <a:t>Bluestock MF Analytics Platform  |  Python · SQLite · Streamlit · Plotly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</a:rPr>
              <a:t>Confidential — Capstone Project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Fund Performance — Composite Scorecard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B981"/>
                </a:solidFill>
              </a:rPr>
              <a:t>Top Fund: ICICI Pru Liquid Fund - Regular - Growth  |  CAGR 1Y: 8.9%  |  Sharpe: 7.680</a:t>
            </a:r>
          </a:p>
        </p:txBody>
      </p:sp>
      <p:pic>
        <p:nvPicPr>
          <p:cNvPr id="5" name="Picture 4" descr="16_scorecard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7132320" cy="4572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79792" y="1371600"/>
            <a:ext cx="448056" cy="36576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79" y="1417320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Rank</a:t>
            </a:r>
          </a:p>
        </p:txBody>
      </p:sp>
      <p:sp>
        <p:nvSpPr>
          <p:cNvPr id="8" name="Rectangle 7"/>
          <p:cNvSpPr/>
          <p:nvPr/>
        </p:nvSpPr>
        <p:spPr>
          <a:xfrm>
            <a:off x="7936992" y="1371600"/>
            <a:ext cx="493776" cy="36576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14173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94192" y="1371600"/>
            <a:ext cx="1728216" cy="36576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141732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Scheme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40112" y="1371600"/>
            <a:ext cx="630936" cy="36576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0" y="1417320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CAGR 1Y%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80192" y="1371600"/>
            <a:ext cx="630936" cy="36576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0" y="1417320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Sharpe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137392" y="1371600"/>
            <a:ext cx="585216" cy="36576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0" y="14173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MaxDD%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686032" y="1371600"/>
            <a:ext cx="493776" cy="36576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04320" y="14173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Score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79792" y="1755648"/>
            <a:ext cx="4864608" cy="384048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79" y="1819656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93B"/>
                </a:solidFill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181965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93B"/>
                </a:solidFill>
              </a:rPr>
              <a:t>120507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1819656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93B"/>
                </a:solidFill>
              </a:rPr>
              <a:t>ICICI Pru Liquid Fun..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1819656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93B"/>
                </a:solidFill>
              </a:rPr>
              <a:t>8.9%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1819656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93B"/>
                </a:solidFill>
              </a:rPr>
              <a:t>7.68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1819656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93B"/>
                </a:solidFill>
              </a:rPr>
              <a:t>-2.6%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181965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93B"/>
                </a:solidFill>
              </a:rPr>
              <a:t>29.30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79792" y="2176272"/>
            <a:ext cx="4864608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79" y="2240279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93B"/>
                </a:solidFill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79" y="224027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93B"/>
                </a:solidFill>
              </a:rPr>
              <a:t>148567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2240279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93B"/>
                </a:solidFill>
              </a:rPr>
              <a:t>Mirae Asset Large Ca..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2240279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93B"/>
                </a:solidFill>
              </a:rPr>
              <a:t>15.1%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2240279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93B"/>
                </a:solidFill>
              </a:rPr>
              <a:t>1.06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2240279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93B"/>
                </a:solidFill>
              </a:rPr>
              <a:t>-17.1%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04320" y="224027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93B"/>
                </a:solidFill>
              </a:rPr>
              <a:t>28.70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79792" y="2596896"/>
            <a:ext cx="4864608" cy="384048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79" y="2660903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93B"/>
                </a:solidFill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55279" y="266090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93B"/>
                </a:solidFill>
              </a:rPr>
              <a:t>120843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2660903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93B"/>
                </a:solidFill>
              </a:rPr>
              <a:t>Kotak Flexicap Fund ..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2660903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93B"/>
                </a:solidFill>
              </a:rPr>
              <a:t>15.7%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98480" y="2660903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93B"/>
                </a:solidFill>
              </a:rPr>
              <a:t>0.98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2660903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93B"/>
                </a:solidFill>
              </a:rPr>
              <a:t>-19.5%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704320" y="266090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93B"/>
                </a:solidFill>
              </a:rPr>
              <a:t>28.65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79792" y="3017520"/>
            <a:ext cx="4864608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8079" y="3081527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93B"/>
                </a:solidFill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55279" y="3081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93B"/>
                </a:solidFill>
              </a:rPr>
              <a:t>102887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12480" y="3081527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93B"/>
                </a:solidFill>
              </a:rPr>
              <a:t>UTI Flexi Cap Fund -..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0" y="3081527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93B"/>
                </a:solidFill>
              </a:rPr>
              <a:t>17.4%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98480" y="3081527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93B"/>
                </a:solidFill>
              </a:rPr>
              <a:t>0.96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155680" y="3081527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93B"/>
                </a:solidFill>
              </a:rPr>
              <a:t>-12.1%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704320" y="3081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93B"/>
                </a:solidFill>
              </a:rPr>
              <a:t>28.45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479792" y="3438144"/>
            <a:ext cx="4864608" cy="384048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498079" y="3502151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93B"/>
                </a:solidFill>
              </a:rPr>
              <a:t>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55279" y="350215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93B"/>
                </a:solidFill>
              </a:rPr>
              <a:t>118632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12480" y="3502151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93B"/>
                </a:solidFill>
              </a:rPr>
              <a:t>Nippon India Large C..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0" y="3502151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93B"/>
                </a:solidFill>
              </a:rPr>
              <a:t>15.8%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98480" y="3502151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93B"/>
                </a:solidFill>
              </a:rPr>
              <a:t>1.00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55680" y="3502151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93B"/>
                </a:solidFill>
              </a:rPr>
              <a:t>-16.1%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704320" y="350215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93B"/>
                </a:solidFill>
              </a:rPr>
              <a:t>28.05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</a:rPr>
              <a:t>Bluestock MF Analytics Platform  |  Python · SQLite · Streamlit · Plotly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</a:rPr>
              <a:t>Confidential — Capstone Project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Fund Performance — Alpha, Beta &amp; Risk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B981"/>
                </a:solidFill>
              </a:rPr>
              <a:t>OLS regression vs Nifty 100  |  Max Drawdown  |  Tracking Error</a:t>
            </a:r>
          </a:p>
        </p:txBody>
      </p:sp>
      <p:pic>
        <p:nvPicPr>
          <p:cNvPr id="5" name="Picture 4" descr="13_risk_return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3657600"/>
          </a:xfrm>
          <a:prstGeom prst="rect">
            <a:avLst/>
          </a:prstGeom>
        </p:spPr>
      </p:pic>
      <p:pic>
        <p:nvPicPr>
          <p:cNvPr id="6" name="Picture 5" descr="17_max_draw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280160"/>
            <a:ext cx="56692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07492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▸  All equity funds show positive alpha (best: Top Fund = 1.9800 annualised)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▸  Top Large Cap funds occupy top-right of risk/return chart: best return per unit of risk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▸  Worst max drawdown: Worst at -33.5%  |  Best: Best at -2.2%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</a:rPr>
              <a:t>Bluestock MF Analytics Platform  |  Python · SQLite · Streamlit · Plotly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</a:rPr>
              <a:t>Confidential — Capstone Project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Interactive Streamlit Dashboard — Pages 1 &amp;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B981"/>
                </a:solidFill>
              </a:rPr>
              <a:t>Run: python3 -m streamlit run dashboard/app.py  →  http://localhost:8501</a:t>
            </a:r>
          </a:p>
        </p:txBody>
      </p:sp>
      <p:pic>
        <p:nvPicPr>
          <p:cNvPr id="5" name="Picture 4" descr="page1_industry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4937760"/>
          </a:xfrm>
          <a:prstGeom prst="rect">
            <a:avLst/>
          </a:prstGeom>
        </p:spPr>
      </p:pic>
      <p:pic>
        <p:nvPicPr>
          <p:cNvPr id="6" name="Picture 5" descr="page2_fund_perform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280160"/>
            <a:ext cx="5669280" cy="49377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</a:rPr>
              <a:t>Bluestock MF Analytics Platform  |  Python · SQLite · Streamlit · Plotly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</a:rPr>
              <a:t>Confidential — Capstone Project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Interactive Streamlit Dashboard — Pages 3 &amp;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B981"/>
                </a:solidFill>
              </a:rPr>
              <a:t>Sidebar filters for city tier, age group, fund house, category</a:t>
            </a:r>
          </a:p>
        </p:txBody>
      </p:sp>
      <p:pic>
        <p:nvPicPr>
          <p:cNvPr id="5" name="Picture 4" descr="page3_investor_analy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4937760"/>
          </a:xfrm>
          <a:prstGeom prst="rect">
            <a:avLst/>
          </a:prstGeom>
        </p:spPr>
      </p:pic>
      <p:pic>
        <p:nvPicPr>
          <p:cNvPr id="6" name="Picture 5" descr="page4_sip_market_tren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280160"/>
            <a:ext cx="5669280" cy="49377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</a:rPr>
              <a:t>Bluestock MF Analytics Platform  |  Python · SQLite · Streamlit · Plotly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</a:rPr>
              <a:t>Confidential — Capstone Project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Key Findings &amp;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B981"/>
                </a:solidFill>
              </a:rPr>
              <a:t>Actionable insights from the analytics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5486400" cy="4937760"/>
          </a:xfrm>
          <a:prstGeom prst="rect">
            <a:avLst/>
          </a:prstGeom>
          <a:solidFill>
            <a:srgbClr val="EFF6FF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0" y="1280160"/>
            <a:ext cx="5486400" cy="4937760"/>
          </a:xfrm>
          <a:prstGeom prst="rect">
            <a:avLst/>
          </a:prstGeom>
          <a:solidFill>
            <a:srgbClr val="F0FDF4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4B"/>
                </a:solidFill>
              </a:rPr>
              <a:t>📊  Key 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▸  The top equity large-cap fund: #1 fund — CAGR 8.9%, Sharpe 7.680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▸  SIP inflows peaked December 2025 — industry milestone confirmed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▸  60%+ SIP mandates rated Good/Excellent continuity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▸  B30 cities: higher SIP retention despite lower ticket size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▸  Equity fund NAV correlation &gt; 0.85 — minimal intra-category diversification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▸  5 TER violations detected and corrected in cleaning step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▸  HHI &lt; 0.15 for most funds — healthy sector diversification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3258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🎯  Recommendations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8308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▸  Increase marketing spend on top fund — clear performance leader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▸  Trigger advisor outreach for At Risk SIP segment (~15%)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▸  Target 18–30 cohort with digital-first SIP products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▸  Review underperforming funds with negative CAGR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▸  Migrate to PostgreSQL for production dashboard scalability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▸  Integrate daily AMFI NAV scheduler for live updates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▸  Add ML churn prediction using SIP continuity features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</a:rPr>
              <a:t>Bluestock MF Analytics Platform  |  Python · SQLite · Streamlit · Plotly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</a:rPr>
              <a:t>Confidential — Capstone Project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0" y="0"/>
            <a:ext cx="36576" cy="68580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0B981"/>
                </a:solidFill>
              </a:rPr>
              <a:t>Bluestock Fintech — Mutual Fund Analytics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91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EFF6FF"/>
                </a:solidFill>
              </a:rPr>
              <a:t>Questions &amp; Discussion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</a:rPr>
              <a:t>📁  GitHub: bluestock-mf-capstone  |  🌐  localhost:8501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6634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B981"/>
                </a:solidFill>
              </a:rPr>
              <a:t>python3 -m streamlit run dashboard/app.py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</a:rPr>
              <a:t>Built with: Python 3.12  ·  Pandas  ·  SQLite  ·  SQLAlchemy  ·  Streamlit  ·  Plotly  ·  ReportLab  ·  python-pptx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