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0B981"/>
                </a:solidFill>
              </a:rPr>
              <a:t>BLUESTOCK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Mutual Fund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FF6FF"/>
                </a:solidFill>
              </a:rPr>
              <a:t>Capstone Project —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10 Funds  |  50,000 Transactions  |  2,000 Investors  |  Data: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Python 3.12  ·  SQLite  ·  Streamlit  ·  Plotly  ·  ReportLab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Why does the Indian MF industry need a unified analytics platform?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4846320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4B"/>
                </a:solidFill>
              </a:rPr>
              <a:t>❌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MF data spread across NAV feeds, transaction logs, AUM reports, and benchmark indices — no unified view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Fund managers lack real-time risk metrics (VaR, Sharpe, drawdown) in one place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Investor behaviour (SIP continuity, geographic trends) not systematically tracked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No composite scoring framework to compare funds across risk-adjusted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✅  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End-to-end ETL pipeline: raw CSVs → cleaned data → SQLite star-schema DB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Live NAV integration from AMFI API (mfapi.in) — 16,352 real records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23-chart EDA + advanced analytics (VaR, cohort, HHI, recommender)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Interactive Streamlit dashboard: 4 pages, Plotly charts, fintech theme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▸  Composite fund scorecard ranking all 10 schemes by risk-adjusted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Sources &amp;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10 CSVs + Live API  |  86,000+ database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1288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fund_master.csv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630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10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30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Fund metadata, categories, AMC, expense ratios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3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nav_history.csv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2023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12,200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3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Daily NAV per fund (2022–2026, seeded 1% nulls)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7743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aum_history.csv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7743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560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37743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Monthly AUM and net inflows per fund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88920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3463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investor_transactions.csv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83463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50,000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83463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SIP, Lumpsum, Redemption, STP, Switch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1161288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29183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sip_register.csv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29183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800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29183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SIP mandates with continuity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3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scheme_performance.csv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74903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40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749039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Annual returns, Sharpe, expense ratios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1161288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062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portfolio_holdings.csv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2062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1,260 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2062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Quarterly sector allocations per fund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6634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benchmark_returns.csv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6634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9,760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6634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8 benchmarks: Nifty 100, Nifty 500, Crisil, etc.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074920"/>
            <a:ext cx="1161288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1206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investor_demographics.csv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1206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2,000 rows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1206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Age, city, KYC status, risk profile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32120"/>
            <a:ext cx="11612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5778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1F4B"/>
                </a:solidFill>
              </a:rPr>
              <a:t>Live NAV (mfapi.in)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57784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6DB"/>
                </a:solidFill>
              </a:rPr>
              <a:t>16,352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5778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Real AMFI NAV for 6 scheme codes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ETL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8-step sequential pipeline from raw CSVs to interactive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188720" cy="8229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
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828800"/>
            <a:ext cx="118872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
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118872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
Live NAV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828800"/>
            <a:ext cx="11887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
Clean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1188720" cy="8229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918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
Load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747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200400"/>
            <a:ext cx="118872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32918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
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4747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200400"/>
            <a:ext cx="118872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2918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6–8
Notebooks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4747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200400"/>
            <a:ext cx="11887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2918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Dashboard
Streamlit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4B"/>
                </a:solidFill>
              </a:rPr>
              <a:t>Key Technologies: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Python 3.12  ·  Pandas 3.0  ·  SQLAlchemy 2.0  ·  SQLite  ·  Plotly  ·  Streamlit  ·  ReportLab  ·  python-pptx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56DB"/>
                </a:solidFill>
              </a:rPr>
              <a:t>Total records in DB: 86,630  |  Tables: 9  |  Charts generated: 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 — 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Total AUM: ₹257,038 Cr  |  SIP Inflows: ₹8.0 Cr  |  50K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64008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0759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4B"/>
                </a:solidFill>
              </a:rPr>
              <a:t>₹2.6L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0992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Total Industry AUM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2344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234440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0759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4B"/>
                </a:solidFill>
              </a:rPr>
              <a:t>₹8.0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0992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SIP Inflows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2344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234440"/>
            <a:ext cx="6400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30759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4B"/>
                </a:solidFill>
              </a:rPr>
              <a:t>48,638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70992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Active Folios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234440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1234440"/>
            <a:ext cx="64008" cy="91440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3075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4B"/>
                </a:solidFill>
              </a:rPr>
              <a:t>10 Schemes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0992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Across 4 AMCs</a:t>
            </a:r>
          </a:p>
        </p:txBody>
      </p:sp>
      <p:pic>
        <p:nvPicPr>
          <p:cNvPr id="21" name="Picture 20" descr="01_nav_trend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5760720" cy="3931920"/>
          </a:xfrm>
          <a:prstGeom prst="rect">
            <a:avLst/>
          </a:prstGeom>
        </p:spPr>
      </p:pic>
      <p:pic>
        <p:nvPicPr>
          <p:cNvPr id="22" name="Picture 21" descr="03_sip_monthly_milest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86000"/>
            <a:ext cx="5760720" cy="39319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 — Investor &amp; Sector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2,000 investors  |  T30/B30 split  |  10 sectors tracked</a:t>
            </a:r>
          </a:p>
        </p:txBody>
      </p:sp>
      <p:pic>
        <p:nvPicPr>
          <p:cNvPr id="5" name="Picture 4" descr="05_t30_b3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3840480"/>
          </a:xfrm>
          <a:prstGeom prst="rect">
            <a:avLst/>
          </a:prstGeom>
        </p:spPr>
      </p:pic>
      <p:pic>
        <p:nvPicPr>
          <p:cNvPr id="6" name="Picture 5" descr="10_sector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6692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T30 cities: 60% of total capital  |  B30 cities: higher SIP continuation rates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Financial Services = top sector allocation (18–22% across equity funds)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IT and FMCG consistently rank 2nd and 3rd in portfolio holdings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Fund Performance — Composite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Top Fund: Bluestock Large Cap Fund  |  CAGR 1Y: 47.8%  |  Sharpe: 0.775</a:t>
            </a:r>
          </a:p>
        </p:txBody>
      </p:sp>
      <p:pic>
        <p:nvPicPr>
          <p:cNvPr id="5" name="Picture 4" descr="16_scorecar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13232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79792" y="1371600"/>
            <a:ext cx="44805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417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371600"/>
            <a:ext cx="49377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94192" y="1371600"/>
            <a:ext cx="172821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Scheme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40112" y="1371600"/>
            <a:ext cx="63093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4173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CAGR 1Y%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80192" y="1371600"/>
            <a:ext cx="63093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14173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Sharpe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37392" y="1371600"/>
            <a:ext cx="58521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1417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MaxDD%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86032" y="1371600"/>
            <a:ext cx="493776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9792" y="1755648"/>
            <a:ext cx="4864608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81965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1819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F001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196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Bluestock Large Cap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18196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47.8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18196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0.775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18196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-27.3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1819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9.70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2176272"/>
            <a:ext cx="486460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2402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240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F007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4027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Horizon Bluechip Fun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24027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36.3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224027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0.484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22402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-30.6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2240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8.45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9792" y="2596896"/>
            <a:ext cx="4864608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2660903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66090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F003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660903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Bluestock Flexi Cap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660903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17.1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2660903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0.341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66090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-35.3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266090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7.75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9792" y="3017520"/>
            <a:ext cx="486460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3081527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081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F002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081527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Bluestock Mid Cap 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081527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7.3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3081527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0.625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308152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-19.5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3081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7.05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9792" y="3438144"/>
            <a:ext cx="4864608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3502151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5021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F008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502151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Pinnacle Small Cap 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50215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8.7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350215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0.321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35021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-26.3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0" y="35021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6.45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Fund Performance — Alpha, Beta &amp; Risk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OLS regression vs Nifty 100  |  Max Drawdown  |  Tracking Error</a:t>
            </a:r>
          </a:p>
        </p:txBody>
      </p:sp>
      <p:pic>
        <p:nvPicPr>
          <p:cNvPr id="5" name="Picture 4" descr="13_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3657600"/>
          </a:xfrm>
          <a:prstGeom prst="rect">
            <a:avLst/>
          </a:prstGeom>
        </p:spPr>
      </p:pic>
      <p:pic>
        <p:nvPicPr>
          <p:cNvPr id="6" name="Picture 5" descr="17_max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6692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074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All equity funds show positive alpha (best: F001 = 0.2235 annualised)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F001 (Large Cap) and F007 (Bluechip) occupy top-right of risk/return chart: best return per unit of risk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Worst max drawdown: F003 Flexi Cap at -35.3%  |  Best: F010 Gilt at -3.2%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Interactive Streamlit Dashboard — Pages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Run: python3 -m streamlit run dashboard/app.py  →  http://localhost:8501</a:t>
            </a:r>
          </a:p>
        </p:txBody>
      </p:sp>
      <p:pic>
        <p:nvPicPr>
          <p:cNvPr id="5" name="Picture 4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4937760"/>
          </a:xfrm>
          <a:prstGeom prst="rect">
            <a:avLst/>
          </a:prstGeom>
        </p:spPr>
      </p:pic>
      <p:pic>
        <p:nvPicPr>
          <p:cNvPr id="6" name="Picture 5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66928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Interactive Streamlit Dashboard — Pages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Sidebar filters for city tier, age group, fund house, category</a:t>
            </a:r>
          </a:p>
        </p:txBody>
      </p:sp>
      <p:pic>
        <p:nvPicPr>
          <p:cNvPr id="5" name="Picture 4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4937760"/>
          </a:xfrm>
          <a:prstGeom prst="rect">
            <a:avLst/>
          </a:prstGeom>
        </p:spPr>
      </p:pic>
      <p:pic>
        <p:nvPicPr>
          <p:cNvPr id="6" name="Picture 5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66928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Actionable insights from the analytics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00" cy="4937760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486400" cy="4937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4B"/>
                </a:solidFill>
              </a:rPr>
              <a:t>📊 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F001 (Bluestock Large Cap): #1 fund — CAGR 47.8%, Sharpe 0.775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SIP inflows peaked December 2025 — industry milestone confirmed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60%+ SIP mandates rated Good/Excellent continuity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B30 cities: higher SIP retention despite lower ticket size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Equity fund NAV correlation &gt; 0.85 — minimal intra-category diversification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5 TER violations detected and corrected in cleaning step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HHI &lt; 0.15 for most funds — healthy sector diversification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🎯 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Increase marketing spend on F001 — clear performance leader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Trigger advisor outreach for At Risk SIP segment (~15%)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Target 18–30 cohort with digital-first SIP products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Review F009 (Apex Balanced): –17.35% 1Y CAGR in 2025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Migrate to PostgreSQL for production dashboard scalability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Integrate daily AMFI NAV scheduler for live updates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▸  Add ML churn prediction using SIP continuity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Bluestock MF Analytics Platform  |  Python · SQLite · Streamlit · Plotly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Confidential — Capstone Project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B981"/>
                </a:solidFill>
              </a:rPr>
              <a:t>Bluestock Fintech — Mutual Fund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FF6FF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📁  GitHub: bluestock-mf-capstone  |  🌐  localhost:8501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0B981"/>
                </a:solidFill>
              </a:rPr>
              <a:t>python3 -m streamlit run dashboard/app.py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Built with: Python 3.12  ·  Pandas  ·  SQLite  ·  SQLAlchemy  ·  Streamlit  ·  Plotly  ·  ReportLab  · 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